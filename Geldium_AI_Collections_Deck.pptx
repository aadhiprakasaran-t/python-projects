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Head of Collections and stakeholders. This deck presents a strategic proposal for an AI-powered collections system built on the predictive model and EDA insights developed in Tasks 1 and 2. The goal: scale early intervention, reduce delinquency, and do so responsibly.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Monthly customer data is ingested from Geldium's core systems.
Step 2: The XGBoost model scores each customer on delinquency risk.
Step 3: High-risk customers receive proactive outreach; medium-risk get automated nudges.
Step 4: Actual outcomes (did the customer default?) retrain the model each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panel: The seven key input features identified during EDA and model development.
Centre: XGBoost assigns a risk score; SHAP explains why; a threshold routes to the right action.
Right: Three tiers — high-risk gets a human agent call, medium gets digital outreach, low is monitored.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AI handles the speed and scale; humans handle the judgment and accountability.
This hybrid design satisfies regulators (who require human oversight in credit decisions) and ensures the model cannot take irreversible actions without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guardrails are non-negotiable before production deployment.
Fairness: DIR ensures we are not systematically disadvantaging any customer group.
Explainability: SHAP satisfies both regulators and customer-facing agents.
Compliance: ECOA and CFPB alignment is a legal requirement.
Human override: We never automate irreversible credit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projections are based on industry benchmarks for AI-powered collections pilots.
A 15–25% delinquency rate reduction is achievable in 90 days with high-risk proactive outreach.
The customer outcomes column is equally important — responsible AI must benefit customers, not just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ask: approve the 90-day pilot to validate the model in production.
All four steps can begin in parallel — governance board does not need to wait for pilot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73880"/>
          </a:solidFill>
          <a:ln w="12700">
            <a:solidFill>
              <a:srgbClr val="2738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011680"/>
            <a:ext cx="2926080" cy="2926080"/>
          </a:xfrm>
          <a:prstGeom prst="ellipse">
            <a:avLst/>
          </a:prstGeom>
          <a:solidFill>
            <a:srgbClr val="18215A"/>
          </a:solidFill>
          <a:ln w="12700">
            <a:solidFill>
              <a:srgbClr val="1821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EXECUTIVE BRIEFING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Collections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Autonomous, Responsible, and Scalable Delinquency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Intervention for Geldium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64592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Tata iQ × Geldium  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|  June 2026  |  Builds on EDA (Task 1) &amp; Model Framework (Task 2)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2519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System 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69164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2128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Pull customer records: payment history, credit utilization, income, DTI, missed payments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13432" y="2624328"/>
            <a:ext cx="393192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96896" y="2496312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50592" y="109728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50592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691640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42032" y="22128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60320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XGBoost model assigns a 0–1 delinquency probability score to each customer every month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07992" y="2624328"/>
            <a:ext cx="393192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91456" y="2496312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45152" y="109728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645152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691640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36592" y="22128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Action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754880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Customers above risk threshold are automatically routed to the right intervention channel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702552" y="2624328"/>
            <a:ext cx="393192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86016" y="2496312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839712" y="109728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839712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1691640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31152" y="22128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Loop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949440" y="274320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Outcomes feed back into the model; it retrains monthly to stay calibrated to current conditions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Deep Dive: Inputs → Logic → 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System Detail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88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KEY INPUTS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1480" y="19659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</a:rPr>
              <a:t>Missed_Payments (0–6)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</a:rPr>
              <a:t>Credit_Utilization (%)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</a:rPr>
              <a:t>Debt-to-Income Ratio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</a:rPr>
              <a:t>6-Month Payment History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</a:rPr>
              <a:t>Employment_Status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</a:rPr>
              <a:t>Income &amp; Loan_Balance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827"/>
                </a:solidFill>
              </a:rPr>
              <a:t>Credit_Score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54680" y="1051560"/>
            <a:ext cx="2926080" cy="365760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600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500"/>
                </a:solidFill>
              </a:rPr>
              <a:t>DECISION LOGIC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91840" y="20116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 Model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91840" y="22585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Scores each customer 0–1 monthly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91840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SHAP Explainability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91840" y="29169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Top 3 drivers shown per customer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91840" y="33284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Threshold Routing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91840" y="35753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High &gt;0.6 | Medium 0.35–0.6 | Low &lt;0.35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291840" y="39867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Feedback Loop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291840" y="4233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Monthly retraining on new outcomes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834640" y="2715768"/>
            <a:ext cx="320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044952" y="2606040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355080" y="105156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887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0" y="1600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ACTIONS TRIGGERED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73952" y="201168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73952" y="2011680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73952" y="20116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7022592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Agent call + payment plan offer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73952" y="288036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73952" y="2880360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73952" y="28803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7022592" y="2971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SMS/email nudge + digital self-serve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73952" y="374904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F4F7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473952" y="3749040"/>
            <a:ext cx="502920" cy="731520"/>
          </a:xfrm>
          <a:prstGeom prst="roundRect">
            <a:avLst>
              <a:gd name="adj" fmla="val 1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473952" y="37490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7022592" y="38404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Monitor only; no action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080760" y="2715768"/>
            <a:ext cx="27432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245352" y="2606040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A500"/>
                </a:solidFill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Agentic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Autonomous vs. Human Oversight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system is designed on a tiered autonomy model — AI handles high-volume, low-stakes decisions; humans oversee high-stakes and edge cases.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069080" cy="3337560"/>
          </a:xfrm>
          <a:prstGeom prst="roundRect">
            <a:avLst>
              <a:gd name="adj" fmla="val 3288"/>
            </a:avLst>
          </a:prstGeom>
          <a:solidFill>
            <a:srgbClr val="F4F7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4069080" cy="502920"/>
          </a:xfrm>
          <a:prstGeom prst="roundRect">
            <a:avLst>
              <a:gd name="adj" fmla="val 21818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8191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5361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AUTONOMOUS  (AI Acts)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1305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10312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Risk Scoring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31520" y="23317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Score all 500+ customers monthly with zero manual effort</a:t>
            </a:r>
            <a:endParaRPr lang="en-US" sz="88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69748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267004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Threshold Routing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731520" y="28986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Assign each customer to High / Medium / Low tier instantly</a:t>
            </a:r>
            <a:endParaRPr lang="en-US" sz="88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26440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23697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Digital Outreach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731520" y="34655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Trigger SMS/email nudges for Medium-risk customers automatically</a:t>
            </a:r>
            <a:endParaRPr lang="en-US" sz="88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83133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" y="380390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Data Quality Checks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731520" y="40325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Flag missing or anomalous values before scoring each cycle</a:t>
            </a:r>
            <a:endParaRPr lang="en-US" sz="88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398264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31520" y="4370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Performance Logging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731520" y="45994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Track model metrics and store outcomes for retraining</a:t>
            </a:r>
            <a:endParaRPr lang="en-US" sz="880" dirty="0"/>
          </a:p>
        </p:txBody>
      </p:sp>
      <p:sp>
        <p:nvSpPr>
          <p:cNvPr id="25" name="Shape 17"/>
          <p:cNvSpPr/>
          <p:nvPr/>
        </p:nvSpPr>
        <p:spPr>
          <a:xfrm>
            <a:off x="4800600" y="1508760"/>
            <a:ext cx="4069080" cy="3337560"/>
          </a:xfrm>
          <a:prstGeom prst="roundRect">
            <a:avLst>
              <a:gd name="adj" fmla="val 3288"/>
            </a:avLst>
          </a:prstGeom>
          <a:solidFill>
            <a:srgbClr val="F4F7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800600" y="1508760"/>
            <a:ext cx="406908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1581912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58968" y="15361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HUMAN OVERSIGHT  (Agent Acts)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2130552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257800" y="210312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High-Risk Outreach</a:t>
            </a:r>
            <a:endParaRPr lang="en-US" sz="950" dirty="0"/>
          </a:p>
        </p:txBody>
      </p:sp>
      <p:sp>
        <p:nvSpPr>
          <p:cNvPr id="31" name="Text 21"/>
          <p:cNvSpPr/>
          <p:nvPr/>
        </p:nvSpPr>
        <p:spPr>
          <a:xfrm>
            <a:off x="5257800" y="23317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Agents personally call customers with score &gt;0.6 and offer payment plans</a:t>
            </a:r>
            <a:endParaRPr lang="en-US" sz="88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2697480"/>
            <a:ext cx="219456" cy="21945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257800" y="267004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Dispute Resolution</a:t>
            </a:r>
            <a:endParaRPr lang="en-US" sz="950" dirty="0"/>
          </a:p>
        </p:txBody>
      </p:sp>
      <p:sp>
        <p:nvSpPr>
          <p:cNvPr id="34" name="Text 23"/>
          <p:cNvSpPr/>
          <p:nvPr/>
        </p:nvSpPr>
        <p:spPr>
          <a:xfrm>
            <a:off x="5257800" y="28986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Any customer who challenges their flag is reviewed by a human agent</a:t>
            </a:r>
            <a:endParaRPr lang="en-US" sz="88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6048" y="3264408"/>
            <a:ext cx="219456" cy="21945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257800" y="323697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Model Override</a:t>
            </a:r>
            <a:endParaRPr lang="en-US" sz="950" dirty="0"/>
          </a:p>
        </p:txBody>
      </p:sp>
      <p:sp>
        <p:nvSpPr>
          <p:cNvPr id="37" name="Text 25"/>
          <p:cNvSpPr/>
          <p:nvPr/>
        </p:nvSpPr>
        <p:spPr>
          <a:xfrm>
            <a:off x="5257800" y="34655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Senior analyst can override automated routing in exceptional cases</a:t>
            </a:r>
            <a:endParaRPr lang="en-US" sz="88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6048" y="3831336"/>
            <a:ext cx="219456" cy="21945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257800" y="380390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Fairness Audits</a:t>
            </a:r>
            <a:endParaRPr lang="en-US" sz="950" dirty="0"/>
          </a:p>
        </p:txBody>
      </p:sp>
      <p:sp>
        <p:nvSpPr>
          <p:cNvPr id="40" name="Text 27"/>
          <p:cNvSpPr/>
          <p:nvPr/>
        </p:nvSpPr>
        <p:spPr>
          <a:xfrm>
            <a:off x="5257800" y="40325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Monthly DIR and bias review by compliance team — not delegated to AI</a:t>
            </a:r>
            <a:endParaRPr lang="en-US" sz="88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6048" y="4398264"/>
            <a:ext cx="219456" cy="219456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5257800" y="4370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Threshold Adjustments</a:t>
            </a:r>
            <a:endParaRPr lang="en-US" sz="950" dirty="0"/>
          </a:p>
        </p:txBody>
      </p:sp>
      <p:sp>
        <p:nvSpPr>
          <p:cNvPr id="43" name="Text 29"/>
          <p:cNvSpPr/>
          <p:nvPr/>
        </p:nvSpPr>
        <p:spPr>
          <a:xfrm>
            <a:off x="5257800" y="459943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Risk cut-offs reviewed quarterly by analytics and collections leads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Guardrails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Fairness  ·  Explainability  ·  Compliance  ·  Oversight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2D3A8C"/>
          </a:solidFill>
          <a:ln w="12700">
            <a:solidFill>
              <a:srgbClr val="2D3A8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904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45389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&amp; Bias Monitoring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" y="1911096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Disparate Impact Ratio (DIR) calculated monthly across Location and Employment segments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DIR below 0.80 triggers immediate model review — the industry 4/5ths rule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Location removed if it acts as demographic proxy; replaced with economic indicators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49047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45389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(SHAP)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910328" y="1911096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Every risk score accompanied by top-3 contributing factors in plain language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Collections agents see WHY a customer was flagged — not just that they were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Regulatory-ready audit trail of model reasoning stored per customer per cycle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274320" y="32004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6499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32841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Data Governance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75488" y="3785616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Model compliant with ECOA and Consumer Financial Protection Bureau (CFPB) guidance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No protected characteristics (race, gender, religion) used as model inputs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All customer data encrypted at rest; access logged and role-restricted</a:t>
            </a:r>
            <a:endParaRPr lang="en-US" sz="880" dirty="0"/>
          </a:p>
        </p:txBody>
      </p:sp>
      <p:sp>
        <p:nvSpPr>
          <p:cNvPr id="16" name="Shape 11"/>
          <p:cNvSpPr/>
          <p:nvPr/>
        </p:nvSpPr>
        <p:spPr>
          <a:xfrm>
            <a:off x="4709160" y="320040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36499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3328416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Override &amp; Accountability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910328" y="3785616"/>
            <a:ext cx="3858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Every high-risk flag reviewed by a qualified collections agent before contact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Customers can appeal their risk classification — human review guaranteed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</a:rPr>
              <a:t>Model cannot take financial actions (e.g., charging fees) autonomously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Quantitative &amp; Qualitative Outcomes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55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Reduction in delinquency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rate (pilot target)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27832" y="10058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27832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27832" y="1755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Reduction in 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reviews via automation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81344" y="1005840"/>
            <a:ext cx="2743200" cy="1325880"/>
          </a:xfrm>
          <a:prstGeom prst="roundRect">
            <a:avLst>
              <a:gd name="adj" fmla="val 689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1005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81344" y="175564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Faster intervention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vs. current process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4114800" cy="2423160"/>
          </a:xfrm>
          <a:prstGeom prst="roundRect">
            <a:avLst>
              <a:gd name="adj" fmla="val 3774"/>
            </a:avLst>
          </a:prstGeom>
          <a:solidFill>
            <a:srgbClr val="F4F7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06040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2587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BUSINESS KPIs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301752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Delinquency rate: target 15% reduction in 90-day pilot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Collections cost per account: target 20% reduction via automation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False negative rate (missed delinquents): track monthly; target &lt;10%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Model AUC-ROC: maintain ≥0.80 across retraining cycles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Time-to-intervention: reduce from 30+ days to &lt;7 days for high-risk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754880" y="2487168"/>
            <a:ext cx="4114800" cy="2423160"/>
          </a:xfrm>
          <a:prstGeom prst="roundRect">
            <a:avLst>
              <a:gd name="adj" fmla="val 3774"/>
            </a:avLst>
          </a:prstGeom>
          <a:solidFill>
            <a:srgbClr val="F4F7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0604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49240" y="25877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CUSTOMER OUTCOMES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92040" y="301752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Earlier, more empathetic outreach before accounts enter hardship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Personalised payment plans based on individual risk profile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Fewer blanket interventions — low-risk customers not over-contacted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Transparent explanations if a customer is flagged for review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Fairer outcomes: bias audits ensure no group is disproportionately targeted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73880"/>
          </a:solidFill>
          <a:ln w="12700">
            <a:solidFill>
              <a:srgbClr val="2738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8215A"/>
          </a:solidFill>
          <a:ln w="12700">
            <a:solidFill>
              <a:srgbClr val="1821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48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8288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37160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 90-Day Pilot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63677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Deploy the model to score current customer base; route high-risk customers to agent outreach and measure 15% delinquency reduction target.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2402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" y="2240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Establish Governance Board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50545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Form a cross-functional team (Analytics, Collections, Compliance, Legal) to oversee monthly fairness audits and threshold reviews.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10896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" y="3108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Explainability Layer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8680" y="337413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Integrate SHAP output into collections agent dashboard so every customer flag includes plain-language reasoning.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39776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68680" y="3977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 Full-Scale Rollout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424281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Based on 90-day pilot results, design phased rollout with retraining cadence and performance SLAs for production.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82803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Tata iQ × Geldium  ·  June 2026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System — Geldium Executive Briefing</dc:title>
  <dc:subject>PptxGenJS Presentation</dc:subject>
  <dc:creator>PptxGenJS</dc:creator>
  <cp:lastModifiedBy>PptxGenJS</cp:lastModifiedBy>
  <cp:revision>1</cp:revision>
  <dcterms:created xsi:type="dcterms:W3CDTF">2026-06-21T07:12:21Z</dcterms:created>
  <dcterms:modified xsi:type="dcterms:W3CDTF">2026-06-21T07:12:21Z</dcterms:modified>
</cp:coreProperties>
</file>